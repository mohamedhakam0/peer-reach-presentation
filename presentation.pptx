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56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Instrument Sans Bold" panose="020B0604020202090204" charset="0"/>
      <p:regular r:id="rId18"/>
    </p:embeddedFont>
    <p:embeddedFont>
      <p:font typeface="Instrument Sans Medium" panose="020B0604020202090204" charset="0"/>
      <p:regular r:id="rId19"/>
    </p:embeddedFont>
    <p:embeddedFont>
      <p:font typeface="Instrument Sans SemiBold" panose="020B060402020209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33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405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058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889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5110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2707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367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471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28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3908"/>
            <a:ext cx="420067" cy="182761"/>
          </a:xfrm>
          <a:prstGeom prst="roundRect">
            <a:avLst>
              <a:gd name="adj" fmla="val 41888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014365" y="580492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Peer Reach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96119" y="1100361"/>
            <a:ext cx="8151763" cy="73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Electronics and Electrical Communications Engineering Department</a:t>
            </a:r>
            <a:endParaRPr lang="en-US" sz="1200" dirty="0"/>
          </a:p>
          <a:p>
            <a:pPr marL="0" indent="0" algn="ctr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Faculty of Engineering</a:t>
            </a:r>
            <a:endParaRPr lang="en-US" sz="1200" dirty="0"/>
          </a:p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Cairo University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80172" y="1957388"/>
            <a:ext cx="25836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Prepared by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96119" y="2342778"/>
            <a:ext cx="8151763" cy="1815405"/>
          </a:xfrm>
          <a:prstGeom prst="roundRect">
            <a:avLst>
              <a:gd name="adj" fmla="val 527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7144" y="2400077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Student Name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78263" y="2400077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Student ID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7144" y="2658740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Mohamed Ahmed Abd Hakam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78263" y="2658740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922647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144" y="2917403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John Gamil SaadAllah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78263" y="2917403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9220239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144" y="3176067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Mohamed Hatem Ahmed Mahmoud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78263" y="3176067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9220676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144" y="3434730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Omar Ayman Amin Mohamed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78263" y="3434730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9220528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144" y="3693393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Mohamed Ahmed Mohamed Ahmed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8263" y="3693393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9220652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7144" y="3952056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Adham Ayman Awad Hamed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78263" y="3952056"/>
            <a:ext cx="431579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9231646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6119" y="4247852"/>
            <a:ext cx="8151763" cy="46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7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Advisor</a:t>
            </a:r>
            <a:endParaRPr lang="en-US" sz="1200" dirty="0"/>
          </a:p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Dr. Heba Mourad</a:t>
            </a:r>
            <a:endParaRPr lang="en-US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A50136-F61E-6F68-A542-FEF7D3758924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5917"/>
            <a:ext cx="578272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71304" y="122902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Agenda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3103587"/>
            <a:ext cx="8151763" cy="1905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30883" y="2678311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80939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4108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7877" y="1884611"/>
            <a:ext cx="1205061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063725" y="3103587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13781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6950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70720" y="3670622"/>
            <a:ext cx="1205136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896642" y="2678311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6697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99866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303636" y="1884611"/>
            <a:ext cx="1205061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System Model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29558" y="3103587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79614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32783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136553" y="3670622"/>
            <a:ext cx="1205061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Hardware Components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62401" y="2678311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12456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65625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3969395" y="1884611"/>
            <a:ext cx="1205136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95317" y="3103587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45373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98542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6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802312" y="3670622"/>
            <a:ext cx="1205061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Packet Design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28234" y="2678311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78289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31458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7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635228" y="1884611"/>
            <a:ext cx="1205061" cy="56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Security Framework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061076" y="3103587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11132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64300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468070" y="3670622"/>
            <a:ext cx="1205136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Results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893993" y="2678311"/>
            <a:ext cx="19050" cy="425276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44048" y="2944118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97217" y="29706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9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300987" y="1884611"/>
            <a:ext cx="1205136" cy="651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Demo</a:t>
            </a:r>
            <a:endParaRPr lang="en-US" sz="13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Scenarios</a:t>
            </a:r>
            <a:endParaRPr lang="en-US" sz="135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EA82C4B-507A-2011-3023-50C817EBD535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22177"/>
            <a:ext cx="581174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786" y="977616"/>
            <a:ext cx="59402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 &amp; Motivation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581174" y="22826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69" y="2736501"/>
            <a:ext cx="3902943" cy="1134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27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BLE works only over short distances.</a:t>
            </a:r>
            <a:endParaRPr lang="en-US" sz="1100" dirty="0"/>
          </a:p>
          <a:p>
            <a:pPr marL="223520" indent="-223520" algn="l">
              <a:lnSpc>
                <a:spcPct val="27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infrastructure-free multi-hop messaging.</a:t>
            </a:r>
            <a:endParaRPr lang="en-US" sz="1100" dirty="0"/>
          </a:p>
          <a:p>
            <a:pPr marL="223520" indent="-223520" algn="l">
              <a:lnSpc>
                <a:spcPct val="27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secure and reliable multi-hop communication.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00600" y="226605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Motivation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02175" y="2720317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>
              <a:lnSpc>
                <a:spcPct val="25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Stay connected when there is no network.</a:t>
            </a:r>
          </a:p>
          <a:p>
            <a:pPr marL="223520" indent="-223520">
              <a:lnSpc>
                <a:spcPct val="25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Support communication during disasters.</a:t>
            </a:r>
          </a:p>
          <a:p>
            <a:pPr marL="223520" indent="-223520">
              <a:lnSpc>
                <a:spcPct val="250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</a:rPr>
              <a:t>Enable messaging in crowded places.</a:t>
            </a:r>
          </a:p>
        </p:txBody>
      </p:sp>
      <p:sp>
        <p:nvSpPr>
          <p:cNvPr id="9" name="Text 7"/>
          <p:cNvSpPr/>
          <p:nvPr/>
        </p:nvSpPr>
        <p:spPr>
          <a:xfrm>
            <a:off x="496119" y="369443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BEBC59-2120-317F-C534-306571C845B1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8087"/>
            <a:ext cx="392981" cy="159023"/>
          </a:xfrm>
          <a:prstGeom prst="roundRect">
            <a:avLst>
              <a:gd name="adj" fmla="val 43126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592708"/>
            <a:ext cx="2838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Objectives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86358"/>
            <a:ext cx="8151763" cy="57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469" y="1182812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55402" y="1095896"/>
            <a:ext cx="172052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Infrastructure-Free Messaging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5402" y="1283122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messaging system without internet or cellular networks.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21854"/>
            <a:ext cx="8151763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9469" y="1818308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55402" y="1731392"/>
            <a:ext cx="150502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Multi-Hop Communication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55402" y="1918618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messages to travel across multiple BLE devices.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57351"/>
            <a:ext cx="8151763" cy="571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469" y="2453804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55402" y="236688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Extended Coverage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55402" y="2554114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Increase communication range using relay nodes and LoRa.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92847"/>
            <a:ext cx="8151763" cy="571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469" y="3089300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955402" y="3002384"/>
            <a:ext cx="1313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End-to-End Encryption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955402" y="3189610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Keep messages secure from sender to receiver.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528343"/>
            <a:ext cx="8151763" cy="5715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9469" y="3724796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955402" y="3637880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 Protection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955402" y="3825106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Preserve user privacy and anonymity.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63839"/>
            <a:ext cx="8151763" cy="5715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9469" y="4360292"/>
            <a:ext cx="1428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955402" y="4273376"/>
            <a:ext cx="134213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Evaluation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955402" y="4460602"/>
            <a:ext cx="758294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 reliability, latency, range, and overall system performance.</a:t>
            </a:r>
            <a:endParaRPr lang="en-US" sz="9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30A95D-A9B3-40FB-3E67-615D25D05878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5333"/>
            <a:ext cx="326678" cy="127471"/>
          </a:xfrm>
          <a:prstGeom prst="roundRect">
            <a:avLst>
              <a:gd name="adj" fmla="val 45042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550738"/>
            <a:ext cx="24507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Model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96119" y="817811"/>
            <a:ext cx="267466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Multi-Hop Communication Across BLE Clusters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66" y="1015380"/>
            <a:ext cx="6148388" cy="31099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170090"/>
            <a:ext cx="2687389" cy="568003"/>
          </a:xfrm>
          <a:prstGeom prst="roundRect">
            <a:avLst>
              <a:gd name="adj" fmla="val 1263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5816" y="4249787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598" y="4315569"/>
            <a:ext cx="107603" cy="1076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5816" y="4533751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BLE Multi-Hop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228305" y="4170090"/>
            <a:ext cx="2687389" cy="568003"/>
          </a:xfrm>
          <a:prstGeom prst="roundRect">
            <a:avLst>
              <a:gd name="adj" fmla="val 1263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308003" y="4249787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3785" y="4315569"/>
            <a:ext cx="107603" cy="1076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08003" y="4533751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LoRa Backhaul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960492" y="4170090"/>
            <a:ext cx="2687389" cy="568003"/>
          </a:xfrm>
          <a:prstGeom prst="roundRect">
            <a:avLst>
              <a:gd name="adj" fmla="val 1263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040189" y="4249787"/>
            <a:ext cx="239167" cy="239167"/>
          </a:xfrm>
          <a:prstGeom prst="roundRect">
            <a:avLst>
              <a:gd name="adj" fmla="val 2389304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5971" y="4315569"/>
            <a:ext cx="107603" cy="1076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40189" y="4533751"/>
            <a:ext cx="1404565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End-to-End Message Delivery</a:t>
            </a:r>
            <a:endParaRPr lang="en-US" sz="75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4BFCFA-9681-E6E4-8E66-157715C7651D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40334"/>
            <a:ext cx="584597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1563439"/>
            <a:ext cx="433394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Hardware Components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219027"/>
            <a:ext cx="2622724" cy="1684065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6927" y="23798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Android Phone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6927" y="2686348"/>
            <a:ext cx="23011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BLE 5.0 Communication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Origin &amp; Relay Node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Encryption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Android Application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219027"/>
            <a:ext cx="2622724" cy="1684065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1410" y="23798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ESP32-S3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1410" y="2686348"/>
            <a:ext cx="23011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BLE-to-LoRa Bridge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Relay Node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BLE 5.0 + LoRa Support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Stateless Operation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219027"/>
            <a:ext cx="2622724" cy="1684065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5892" y="237983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LoRa Module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85892" y="2686348"/>
            <a:ext cx="230110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Long-Range Communication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 to 1.5 km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Tested 250 B Payload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Low-Power Transmission</a:t>
            </a:r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732976-8D6E-BF61-A71C-BAF9006AEF2C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08460"/>
            <a:ext cx="577676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blurRad="101600" dist="50800" dir="16200000" algn="bl" rotWithShape="0">
              <a:srgbClr val="84C1F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193156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Mobile Application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587154"/>
            <a:ext cx="2622724" cy="504974"/>
          </a:xfrm>
          <a:prstGeom prst="roundRect">
            <a:avLst>
              <a:gd name="adj" fmla="val 2526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7877" y="27289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Home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60601" y="2587154"/>
            <a:ext cx="2622724" cy="504974"/>
          </a:xfrm>
          <a:prstGeom prst="roundRect">
            <a:avLst>
              <a:gd name="adj" fmla="val 2526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2360" y="27289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Messaging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25083" y="2587154"/>
            <a:ext cx="2622724" cy="504974"/>
          </a:xfrm>
          <a:prstGeom prst="roundRect">
            <a:avLst>
              <a:gd name="adj" fmla="val 25267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66842" y="27289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QR Pairing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251597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"Simple and user-friendly interface for secure offline messaging."</a:t>
            </a:r>
            <a:endParaRPr lang="en-US" sz="13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CEB8F1-7DB9-BCF2-FD92-0DEDB8CC861E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703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Packet Design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83544"/>
            <a:ext cx="8151614" cy="250284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5BB3E1-D2F4-3651-2701-CA799FE28338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36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033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Framework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366838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7877" y="150859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62550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075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Confidentiality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7877" y="238214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Only the intended receiver can read messages.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60601" y="1366838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02360" y="150859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62550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075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Integrity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402360" y="2382143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Detect any message modification.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025083" y="1366838"/>
            <a:ext cx="2622724" cy="1610692"/>
          </a:xfrm>
          <a:prstGeom prst="roundRect">
            <a:avLst>
              <a:gd name="adj" fmla="val 792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66842" y="1508596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821" y="162550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0756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166842" y="2382143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Verify communicating users.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37877" y="32610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56" y="3377952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877" y="38280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37877" y="413459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Protect user identity.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383878"/>
          </a:xfrm>
          <a:prstGeom prst="roundRect">
            <a:avLst>
              <a:gd name="adj" fmla="val 9220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84601" y="32610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1580" y="3377952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4601" y="38280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Availability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784601" y="413459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continues without internet.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7F29017-9FBF-6632-21C1-FC32EAB2968A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5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1537"/>
            <a:ext cx="45646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Against Attacks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6269" y="1658689"/>
            <a:ext cx="8151763" cy="2060823"/>
          </a:xfrm>
          <a:prstGeom prst="roundRect">
            <a:avLst>
              <a:gd name="adj" fmla="val 619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1031" y="1663452"/>
            <a:ext cx="4071119" cy="408831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2790" y="175327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Attack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02150" y="1663452"/>
            <a:ext cx="4071119" cy="408831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46290" y="1753270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Defense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2790" y="216448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Silent Listener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46290" y="2164482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Encryption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2790" y="257569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Curious Relay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46290" y="2575694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Shared Secret (Cannot Decrypt Messages)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2790" y="298690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 Modification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46290" y="2986906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 Tag (AES-128-GCM)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2790" y="339811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Replay Attack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46290" y="3398118"/>
            <a:ext cx="42424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 ID + Timestamp + Seen Message Cache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F20036-A3A8-069A-F251-3CADCB098DF2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2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54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Results &amp; Evaluation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731913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1932682"/>
            <a:ext cx="177180" cy="141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90909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Chart / Graph Placeholder 1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Insert primary performance figure or chart here.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96119" y="2458343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65911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263552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Chart / Graph Placeholder 2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Insert secondary result figure here.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6119" y="3184773"/>
            <a:ext cx="8151763" cy="566961"/>
          </a:xfrm>
          <a:prstGeom prst="roundRect">
            <a:avLst>
              <a:gd name="adj" fmla="val 2250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385542"/>
            <a:ext cx="177180" cy="1417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36195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Chart / Graph Placeholder 3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Insert additional data visualization here.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491768-C6AA-54B7-D3AB-BAF15F8EDA88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3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3960"/>
            <a:ext cx="47034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Demonstration Scenarios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0636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Network Formation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97708"/>
            <a:ext cx="4004965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6585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Node Joins the Mesh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3127" y="2965028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Device automatically discovers nearby nodes and joins the BLE mesh network.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497708"/>
            <a:ext cx="4005039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2658517"/>
            <a:ext cx="23778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Connection Loss &amp; Recovery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79851" y="296502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resumes automatically when the device reconnects.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A5A784-D148-EA23-9420-782C7CC43356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99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3960"/>
            <a:ext cx="47034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Demonstration Scenarios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0636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Message Delivery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97708"/>
            <a:ext cx="4004965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658517"/>
            <a:ext cx="19772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Long-Range Messaging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3127" y="2965028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Messages travel across multiple BLE hops and LoRa gateways to reach distant users.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497708"/>
            <a:ext cx="4005039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26585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Encrypted Relay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79851" y="2965028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Relay nodes forward encrypted messages without accessing their contents.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095DCE-94DF-67B4-8FF7-4C1A75F4CBE1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78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77367"/>
            <a:ext cx="47034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Demonstration Scenarios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17705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Network Behavior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11115"/>
            <a:ext cx="8151763" cy="854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771924"/>
            <a:ext cx="18589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Node Leaves the Mesh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3127" y="3078435"/>
            <a:ext cx="7753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E3063"/>
                </a:solidFill>
                <a:effectLst/>
                <a:uLnTx/>
                <a:uFillTx/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Neighbor tables update automatically when a device leaves the network.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8A5E62-F504-EA6D-6AEE-493786E05696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3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82539"/>
            <a:ext cx="53481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5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kumimoji="0" lang="en-US" sz="3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806526"/>
            <a:ext cx="360885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91C53"/>
                </a:solidFill>
                <a:effectLst/>
                <a:uLnTx/>
                <a:uFillTx/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Questions &amp; Discussion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E757D8-F7E0-14E2-ED01-8D3E01A98297}"/>
              </a:ext>
            </a:extLst>
          </p:cNvPr>
          <p:cNvSpPr/>
          <p:nvPr/>
        </p:nvSpPr>
        <p:spPr>
          <a:xfrm>
            <a:off x="8039100" y="4799260"/>
            <a:ext cx="1054100" cy="29656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9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489</Words>
  <Application>Microsoft Office PowerPoint</Application>
  <PresentationFormat>On-screen Show (16:9)</PresentationFormat>
  <Paragraphs>155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Instrument Sans SemiBold</vt:lpstr>
      <vt:lpstr>Instrument Sans Medium</vt:lpstr>
      <vt:lpstr>Twemoji Mozilla</vt:lpstr>
      <vt:lpstr>Aptos</vt:lpstr>
      <vt:lpstr>Arial</vt:lpstr>
      <vt:lpstr>Instrument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johnazar139@gmail.com</cp:lastModifiedBy>
  <cp:revision>4</cp:revision>
  <dcterms:created xsi:type="dcterms:W3CDTF">2026-06-29T01:22:55Z</dcterms:created>
  <dcterms:modified xsi:type="dcterms:W3CDTF">2026-06-29T02:07:07Z</dcterms:modified>
</cp:coreProperties>
</file>